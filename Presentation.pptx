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6" r:id="rId4"/>
    <p:sldId id="258" r:id="rId5"/>
    <p:sldId id="268" r:id="rId6"/>
    <p:sldId id="259" r:id="rId7"/>
    <p:sldId id="269" r:id="rId8"/>
    <p:sldId id="260" r:id="rId9"/>
    <p:sldId id="261" r:id="rId10"/>
    <p:sldId id="267" r:id="rId11"/>
    <p:sldId id="262" r:id="rId12"/>
    <p:sldId id="270" r:id="rId13"/>
    <p:sldId id="272" r:id="rId14"/>
    <p:sldId id="271" r:id="rId15"/>
    <p:sldId id="263" r:id="rId16"/>
    <p:sldId id="264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5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79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96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6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65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1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2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573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9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4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71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8264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88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69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3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01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6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59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Adaptive Content Safety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System Architecture, Decision Logic, Cost Strategy &amp; API Comparison</a:t>
            </a:r>
            <a:endParaRPr lang="en-US" dirty="0"/>
          </a:p>
          <a:p>
            <a:r>
              <a:rPr lang="en-US" dirty="0"/>
              <a:t>Group: Nexus Prime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</a:t>
            </a:r>
            <a:r>
              <a:rPr dirty="0"/>
              <a:t>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Flow:</a:t>
            </a:r>
          </a:p>
          <a:p>
            <a:pPr lvl="1"/>
            <a:r>
              <a:t>React Frontend → FastAPI Backend</a:t>
            </a:r>
          </a:p>
          <a:p>
            <a:pPr lvl="1"/>
            <a:r>
              <a:t>Stage 1: Metadata Analysis</a:t>
            </a:r>
          </a:p>
          <a:p>
            <a:pPr lvl="1"/>
            <a:r>
              <a:t>Stage 2: Partial Content Analysis</a:t>
            </a:r>
          </a:p>
          <a:p>
            <a:pPr lvl="1"/>
            <a:r>
              <a:t>Stage 3: Deep Analysis (if escalated)</a:t>
            </a:r>
          </a:p>
          <a:p>
            <a:pPr lvl="1"/>
            <a:r>
              <a:t>Decision Engine → Human Queue (20/hr limit) →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F7F320-692E-A057-0634-9A8D937D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60" y="-78"/>
            <a:ext cx="4750178" cy="687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19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Components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Validation (Pydantic)</a:t>
            </a:r>
          </a:p>
          <a:p>
            <a:pPr lvl="1"/>
            <a:r>
              <a:t>Contextual Heuristics Signal</a:t>
            </a:r>
          </a:p>
          <a:p>
            <a:pPr lvl="1"/>
            <a:r>
              <a:t>Semantic ML Signal</a:t>
            </a:r>
          </a:p>
          <a:p>
            <a:pPr lvl="1"/>
            <a:r>
              <a:t>Signal Decay Engine (Adaptive)</a:t>
            </a:r>
          </a:p>
          <a:p>
            <a:pPr lvl="1"/>
            <a:r>
              <a:t>Cost-Aware Routing</a:t>
            </a:r>
          </a:p>
          <a:p>
            <a:pPr lvl="1"/>
            <a:r>
              <a:t>Decision Engine (Allow / Flag / Escalate / Delay)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DD5A64-4F4F-BB0E-1A26-A9EBF7BD0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4396"/>
            <a:ext cx="9144000" cy="21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8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</a:t>
            </a:r>
            <a:r>
              <a:rPr dirty="0"/>
              <a:t> Decision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Risk + High Confidence → Allow</a:t>
            </a:r>
          </a:p>
          <a:p>
            <a:pPr lvl="1"/>
            <a:r>
              <a:t>High Risk + High Confidence → Auto-Flag</a:t>
            </a:r>
          </a:p>
          <a:p>
            <a:pPr lvl="1"/>
            <a:r>
              <a:t>Medium Confidence → Escalate (Human Review)</a:t>
            </a:r>
          </a:p>
          <a:p>
            <a:pPr lvl="1"/>
            <a:r>
              <a:t>Low Confidence → Delay (Wait for More Context)</a:t>
            </a:r>
          </a:p>
          <a:p>
            <a:pPr lvl="1"/>
            <a:r>
              <a:t>Ambiguous multilingual content → Prefer escalation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9AE8A-8E0D-479A-2CE1-33B50E8FD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051" y="643466"/>
            <a:ext cx="6712130" cy="5571067"/>
          </a:xfrm>
          <a:prstGeom prst="rect">
            <a:avLst/>
          </a:prstGeom>
          <a:ln w="127000" cap="flat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221692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</a:t>
            </a:r>
            <a:r>
              <a:rPr dirty="0"/>
              <a:t> Cost &amp; Latency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Monthly Budget: PKR 50,000</a:t>
            </a:r>
            <a:endParaRPr lang="en-US" dirty="0"/>
          </a:p>
          <a:p>
            <a:r>
              <a:rPr dirty="0"/>
              <a:t>Fast Path (&lt;150ms) for clear cases</a:t>
            </a:r>
            <a:endParaRPr lang="en-US" dirty="0"/>
          </a:p>
          <a:p>
            <a:r>
              <a:rPr dirty="0"/>
              <a:t>Deep Model (&lt;800ms) for borderline cases only</a:t>
            </a:r>
            <a:endParaRPr lang="en-US" dirty="0"/>
          </a:p>
          <a:p>
            <a:r>
              <a:rPr dirty="0"/>
              <a:t>Estimated Cost Allocation: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• Semantic Models: ~20,000 PKR</a:t>
            </a:r>
          </a:p>
          <a:p>
            <a:pPr lvl="1"/>
            <a:r>
              <a:rPr lang="en-US" dirty="0"/>
              <a:t>Deep Models: ~15,000 PKR</a:t>
            </a:r>
          </a:p>
          <a:p>
            <a:pPr lvl="1"/>
            <a:r>
              <a:rPr dirty="0"/>
              <a:t>Infra &amp; Logging: ~15,000 PKR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</a:t>
            </a:r>
            <a:r>
              <a:rPr dirty="0"/>
              <a:t> Adaptation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Signal Decay (3% per use, floor at 0.3)</a:t>
            </a:r>
            <a:endParaRPr lang="en-US" dirty="0"/>
          </a:p>
          <a:p>
            <a:r>
              <a:rPr dirty="0"/>
              <a:t>Randomized model weighting</a:t>
            </a:r>
            <a:endParaRPr lang="en-US" dirty="0"/>
          </a:p>
          <a:p>
            <a:r>
              <a:rPr dirty="0"/>
              <a:t>Shadow evaluation pipeline</a:t>
            </a:r>
            <a:endParaRPr lang="en-US" dirty="0"/>
          </a:p>
          <a:p>
            <a:r>
              <a:rPr dirty="0"/>
              <a:t>Noise injection into thresholds</a:t>
            </a:r>
            <a:endParaRPr lang="en-US" dirty="0"/>
          </a:p>
          <a:p>
            <a:r>
              <a:rPr dirty="0"/>
              <a:t>Budget-triggered degraded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E1CFF7-E49E-4732-395F-03BA05D23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922" y="588010"/>
            <a:ext cx="4288155" cy="56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50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</a:t>
            </a:r>
            <a:r>
              <a:rPr dirty="0"/>
              <a:t> Failure Mode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</a:t>
            </a:r>
            <a:r>
              <a:rPr dirty="0"/>
              <a:t>1. Ambiguous Content Misclassification</a:t>
            </a:r>
          </a:p>
          <a:p>
            <a:pPr lvl="1"/>
            <a:r>
              <a:rPr dirty="0"/>
              <a:t>Impact: Trust loss, false flags</a:t>
            </a:r>
          </a:p>
          <a:p>
            <a:pPr lvl="1"/>
            <a:r>
              <a:rPr dirty="0"/>
              <a:t>Containment: Escalation + confidence gating</a:t>
            </a:r>
            <a:endParaRPr lang="en-US" dirty="0"/>
          </a:p>
          <a:p>
            <a:pPr marL="457200" lvl="1" indent="0">
              <a:buNone/>
            </a:pPr>
            <a:r>
              <a:rPr dirty="0"/>
              <a:t>2. Label Poisoning (15% noise)</a:t>
            </a:r>
          </a:p>
          <a:p>
            <a:pPr lvl="1"/>
            <a:r>
              <a:rPr dirty="0"/>
              <a:t>Impact: Model drift</a:t>
            </a:r>
          </a:p>
          <a:p>
            <a:pPr lvl="1"/>
            <a:r>
              <a:rPr dirty="0"/>
              <a:t>Containment: Re-review sampling + disagreement alerts</a:t>
            </a:r>
          </a:p>
          <a:p>
            <a:pPr marL="457200" lvl="1" indent="0">
              <a:buNone/>
            </a:pPr>
            <a:r>
              <a:rPr dirty="0"/>
              <a:t>3. Budget Exhaustion</a:t>
            </a:r>
          </a:p>
          <a:p>
            <a:pPr lvl="1"/>
            <a:r>
              <a:rPr dirty="0"/>
              <a:t>Impact: Deep model disabled</a:t>
            </a:r>
          </a:p>
          <a:p>
            <a:pPr lvl="1"/>
            <a:r>
              <a:rPr dirty="0"/>
              <a:t>Containment: Throttle at 80% budget + degraded mode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287C89-B930-D65C-13ED-3D6EC3F05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7623"/>
            <a:ext cx="9144000" cy="486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46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6D99-01F5-9101-9D9C-414AAB16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Hugging Face Model Overview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9BE2-5FF3-E808-53F5-D879243E8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facebook</a:t>
            </a:r>
            <a:r>
              <a:rPr lang="en-US" dirty="0"/>
              <a:t>/roberta-hate-speech-dynabench-r4-target → Robust English</a:t>
            </a:r>
          </a:p>
          <a:p>
            <a:r>
              <a:rPr lang="en-US" dirty="0" err="1"/>
              <a:t>cardiffnlp</a:t>
            </a:r>
            <a:r>
              <a:rPr lang="en-US" dirty="0"/>
              <a:t>/twitter-</a:t>
            </a:r>
            <a:r>
              <a:rPr lang="en-US" dirty="0" err="1"/>
              <a:t>roberta</a:t>
            </a:r>
            <a:r>
              <a:rPr lang="en-US" dirty="0"/>
              <a:t>-base-hate-latest → Social media optimized</a:t>
            </a:r>
          </a:p>
          <a:p>
            <a:r>
              <a:rPr lang="en-US" dirty="0"/>
              <a:t>unitary/toxic-</a:t>
            </a:r>
            <a:r>
              <a:rPr lang="en-US" dirty="0" err="1"/>
              <a:t>bert</a:t>
            </a:r>
            <a:r>
              <a:rPr lang="en-US" dirty="0"/>
              <a:t> → General toxicity detection</a:t>
            </a:r>
          </a:p>
          <a:p>
            <a:r>
              <a:rPr lang="en-US" dirty="0"/>
              <a:t>unitary/unbiased-toxic-</a:t>
            </a:r>
            <a:r>
              <a:rPr lang="en-US" dirty="0" err="1"/>
              <a:t>roberta</a:t>
            </a:r>
            <a:r>
              <a:rPr lang="en-US" dirty="0"/>
              <a:t> → Bias-reduced classifier</a:t>
            </a:r>
          </a:p>
          <a:p>
            <a:r>
              <a:rPr lang="en-US" dirty="0" err="1"/>
              <a:t>minuva</a:t>
            </a:r>
            <a:r>
              <a:rPr lang="en-US" dirty="0"/>
              <a:t>/MiniLMv2-toxic-jigsaw → Lightweight, low-compute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328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EECFA-8F35-B7A5-9E2A-1001844D5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Multilingual &amp; Specialized Models</a:t>
            </a:r>
            <a:br>
              <a:rPr lang="en-US" dirty="0"/>
            </a:b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E08B-19DD-85FD-BABA-A37D4063C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pysentimiento</a:t>
            </a:r>
            <a:r>
              <a:rPr lang="en-US" dirty="0"/>
              <a:t>/</a:t>
            </a:r>
            <a:r>
              <a:rPr lang="en-US" dirty="0" err="1"/>
              <a:t>bert</a:t>
            </a:r>
            <a:r>
              <a:rPr lang="en-US" dirty="0"/>
              <a:t>-it-hate-speech → Italian</a:t>
            </a:r>
          </a:p>
          <a:p>
            <a:r>
              <a:rPr lang="en-US" dirty="0" err="1"/>
              <a:t>pysentimiento</a:t>
            </a:r>
            <a:r>
              <a:rPr lang="en-US" dirty="0"/>
              <a:t>/</a:t>
            </a:r>
            <a:r>
              <a:rPr lang="en-US" dirty="0" err="1"/>
              <a:t>robertuito</a:t>
            </a:r>
            <a:r>
              <a:rPr lang="en-US" dirty="0"/>
              <a:t>-hate-speech → Spanish</a:t>
            </a:r>
          </a:p>
          <a:p>
            <a:r>
              <a:rPr lang="en-US" dirty="0" err="1"/>
              <a:t>HateXplain</a:t>
            </a:r>
            <a:r>
              <a:rPr lang="en-US" dirty="0"/>
              <a:t> BERT → Explainable labels</a:t>
            </a:r>
          </a:p>
          <a:p>
            <a:r>
              <a:rPr lang="en-US" dirty="0" err="1"/>
              <a:t>dehatebert</a:t>
            </a:r>
            <a:r>
              <a:rPr lang="en-US" dirty="0"/>
              <a:t>-mono-</a:t>
            </a:r>
            <a:r>
              <a:rPr lang="en-US" dirty="0" err="1"/>
              <a:t>english</a:t>
            </a:r>
            <a:r>
              <a:rPr lang="en-US" dirty="0"/>
              <a:t> → English focused</a:t>
            </a:r>
          </a:p>
          <a:p>
            <a:r>
              <a:rPr lang="en-US" dirty="0"/>
              <a:t>Combine English + language-specific models for ensemble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716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&amp; Model Comparison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Self-Hosted Open Source → Truly Free, Setup Required</a:t>
            </a:r>
            <a:endParaRPr lang="en-US" dirty="0"/>
          </a:p>
          <a:p>
            <a:r>
              <a:rPr dirty="0"/>
              <a:t>Hugging Face Free Models → Easy, Limited Tier</a:t>
            </a:r>
            <a:endParaRPr lang="en-US" dirty="0"/>
          </a:p>
          <a:p>
            <a:r>
              <a:rPr dirty="0"/>
              <a:t>OpenAI Moderation → Low Cost, High Accuracy</a:t>
            </a:r>
            <a:endParaRPr lang="en-US" dirty="0"/>
          </a:p>
          <a:p>
            <a:r>
              <a:rPr dirty="0"/>
              <a:t>Replicate → Free Credits Monthly</a:t>
            </a:r>
            <a:endParaRPr lang="en-US" dirty="0"/>
          </a:p>
          <a:p>
            <a:r>
              <a:rPr dirty="0"/>
              <a:t>AWS Comprehend → Free Tier (12 Months)</a:t>
            </a:r>
            <a:endParaRPr lang="en-US" dirty="0"/>
          </a:p>
          <a:p>
            <a:r>
              <a:rPr dirty="0" err="1"/>
              <a:t>RapidAPI</a:t>
            </a:r>
            <a:r>
              <a:rPr dirty="0"/>
              <a:t> → Mixed Quality Free APIs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Self-Hosted: Free, No Hosted API, Medium Setup</a:t>
            </a:r>
          </a:p>
          <a:p>
            <a:pPr lvl="1"/>
            <a:r>
              <a:t>Hugging Face: Partial Free, Hosted, Easy Integration</a:t>
            </a:r>
          </a:p>
          <a:p>
            <a:pPr lvl="1"/>
            <a:r>
              <a:t>OpenAI Moderation: Low Cost, Strong Multilingual</a:t>
            </a:r>
          </a:p>
          <a:p>
            <a:pPr lvl="1"/>
            <a:r>
              <a:t>AWS: Flexible, Cloud Heavy Setup</a:t>
            </a:r>
          </a:p>
          <a:p>
            <a:pPr lvl="1"/>
            <a:r>
              <a:t>Replicate: Great for Hackathon Credits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Hybrid Strategy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9E1D775-C748-1F4A-E1E2-57933CA81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91" y="2586109"/>
            <a:ext cx="588180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Backbone →    Hugging Face Free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 →   Self-Hosted Open Source Models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Ambiguous Cases →    OpenAI Moderation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Google Perspective (Sunsetting)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Low Cost + High Coverage + Adaptive Defense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19</TotalTime>
  <Words>486</Words>
  <Application>Microsoft Office PowerPoint</Application>
  <PresentationFormat>On-screen Show (4:3)</PresentationFormat>
  <Paragraphs>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Bookman Old Style</vt:lpstr>
      <vt:lpstr>Rockwell</vt:lpstr>
      <vt:lpstr>Damask</vt:lpstr>
      <vt:lpstr>Adaptive Content Safety System</vt:lpstr>
      <vt:lpstr>1. System Architecture</vt:lpstr>
      <vt:lpstr>PowerPoint Presentation</vt:lpstr>
      <vt:lpstr>Major Components &amp; Data Flow</vt:lpstr>
      <vt:lpstr>PowerPoint Presentation</vt:lpstr>
      <vt:lpstr>2. Decision Logic</vt:lpstr>
      <vt:lpstr>PowerPoint Presentation</vt:lpstr>
      <vt:lpstr>3. Cost &amp; Latency Strategy</vt:lpstr>
      <vt:lpstr>4. Adaptation Strategy</vt:lpstr>
      <vt:lpstr>PowerPoint Presentation</vt:lpstr>
      <vt:lpstr>5. Failure Mode Declaration</vt:lpstr>
      <vt:lpstr>PowerPoint Presentation</vt:lpstr>
      <vt:lpstr> Hugging Face Model Overview </vt:lpstr>
      <vt:lpstr>Multilingual &amp; Specialized Models </vt:lpstr>
      <vt:lpstr>API &amp; Model Comparison Overview</vt:lpstr>
      <vt:lpstr>Quick Comparison</vt:lpstr>
      <vt:lpstr>Recommended Hybrid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Agha Shoaub</cp:lastModifiedBy>
  <cp:revision>3</cp:revision>
  <dcterms:created xsi:type="dcterms:W3CDTF">2013-01-27T09:14:16Z</dcterms:created>
  <dcterms:modified xsi:type="dcterms:W3CDTF">2026-02-28T09:26:25Z</dcterms:modified>
  <cp:category/>
</cp:coreProperties>
</file>